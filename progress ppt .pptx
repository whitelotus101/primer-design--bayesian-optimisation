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710"/>
  </p:normalViewPr>
  <p:slideViewPr>
    <p:cSldViewPr snapToGrid="0">
      <p:cViewPr varScale="1">
        <p:scale>
          <a:sx n="147" d="100"/>
          <a:sy n="147" d="100"/>
        </p:scale>
        <p:origin x="2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AFDCC0-669F-FE4B-AADD-1140D0B26BED}" type="doc">
      <dgm:prSet loTypeId="urn:microsoft.com/office/officeart/2005/8/layout/process2" loCatId="" qsTypeId="urn:microsoft.com/office/officeart/2005/8/quickstyle/simple1" qsCatId="simple" csTypeId="urn:microsoft.com/office/officeart/2005/8/colors/accent0_1" csCatId="mainScheme" phldr="1"/>
      <dgm:spPr/>
    </dgm:pt>
    <dgm:pt modelId="{68B3F696-F6EA-0844-91DC-2DFA2DC2ACCD}">
      <dgm:prSet phldrT="[Text]"/>
      <dgm:spPr/>
      <dgm:t>
        <a:bodyPr/>
        <a:lstStyle/>
        <a:p>
          <a:r>
            <a:rPr lang="en-US" dirty="0"/>
            <a:t>Build a surrogate model using the available data</a:t>
          </a:r>
        </a:p>
      </dgm:t>
    </dgm:pt>
    <dgm:pt modelId="{00BF89B4-85C6-3E4A-ACDE-BCFC6DECA479}" type="parTrans" cxnId="{FF88B8BD-8651-134A-A19F-D7143D04DE33}">
      <dgm:prSet/>
      <dgm:spPr/>
      <dgm:t>
        <a:bodyPr/>
        <a:lstStyle/>
        <a:p>
          <a:endParaRPr lang="en-US"/>
        </a:p>
      </dgm:t>
    </dgm:pt>
    <dgm:pt modelId="{DA52BBF1-01BE-3447-B9B9-5914B7999C9D}" type="sibTrans" cxnId="{FF88B8BD-8651-134A-A19F-D7143D04DE33}">
      <dgm:prSet/>
      <dgm:spPr>
        <a:solidFill>
          <a:schemeClr val="tx1"/>
        </a:solidFill>
      </dgm:spPr>
      <dgm:t>
        <a:bodyPr/>
        <a:lstStyle/>
        <a:p>
          <a:endParaRPr lang="en-US">
            <a:ln>
              <a:solidFill>
                <a:sysClr val="windowText" lastClr="000000"/>
              </a:solidFill>
            </a:ln>
          </a:endParaRPr>
        </a:p>
      </dgm:t>
    </dgm:pt>
    <dgm:pt modelId="{B2F0E08A-F997-5445-8F8D-FC8D42761AE9}">
      <dgm:prSet phldrT="[Text]"/>
      <dgm:spPr/>
      <dgm:t>
        <a:bodyPr/>
        <a:lstStyle/>
        <a:p>
          <a:r>
            <a:rPr lang="en-US" dirty="0"/>
            <a:t>Design dozens of "sequence pair candidates" with Bayesian Optimization</a:t>
          </a:r>
        </a:p>
      </dgm:t>
    </dgm:pt>
    <dgm:pt modelId="{0E88F2E1-0468-6E44-AFE7-8B2790668F28}" type="parTrans" cxnId="{3D4F52E8-3026-5A40-A0DD-27A15BDF1D75}">
      <dgm:prSet/>
      <dgm:spPr/>
      <dgm:t>
        <a:bodyPr/>
        <a:lstStyle/>
        <a:p>
          <a:endParaRPr lang="en-US"/>
        </a:p>
      </dgm:t>
    </dgm:pt>
    <dgm:pt modelId="{89EA8B81-5940-6A4E-9CB7-D241290A027A}" type="sibTrans" cxnId="{3D4F52E8-3026-5A40-A0DD-27A15BDF1D75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6250B17C-0C3D-2B42-8BED-6AAFE4BAFFA6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(Experiment) synthesize these candidates in wet-lab experiments and measure their actual activity</a:t>
          </a:r>
        </a:p>
      </dgm:t>
    </dgm:pt>
    <dgm:pt modelId="{140EEE01-82EF-9C42-9359-B96911BFEAE5}" type="parTrans" cxnId="{81A244C4-AF5F-8A4B-B6BC-9EE67E4AE2CF}">
      <dgm:prSet/>
      <dgm:spPr/>
      <dgm:t>
        <a:bodyPr/>
        <a:lstStyle/>
        <a:p>
          <a:endParaRPr lang="en-US"/>
        </a:p>
      </dgm:t>
    </dgm:pt>
    <dgm:pt modelId="{A7677365-217A-3B4D-B937-93C89862B2FD}" type="sibTrans" cxnId="{81A244C4-AF5F-8A4B-B6BC-9EE67E4AE2CF}">
      <dgm:prSet/>
      <dgm:spPr>
        <a:solidFill>
          <a:schemeClr val="tx1"/>
        </a:solidFill>
      </dgm:spPr>
      <dgm:t>
        <a:bodyPr/>
        <a:lstStyle/>
        <a:p>
          <a:endParaRPr lang="en-US"/>
        </a:p>
      </dgm:t>
    </dgm:pt>
    <dgm:pt modelId="{FD616149-5DB7-9A47-B7DB-0C9C37429F36}">
      <dgm:prSet phldrT="[Text]"/>
      <dgm:spPr/>
      <dgm:t>
        <a:bodyPr/>
        <a:lstStyle/>
        <a:p>
          <a:r>
            <a:rPr lang="en-US" dirty="0"/>
            <a:t>Incorporate the results as new data and retrain the surrogate model to improve its accuracy</a:t>
          </a:r>
        </a:p>
      </dgm:t>
    </dgm:pt>
    <dgm:pt modelId="{33905EF5-DB55-1141-B2C8-48890CEC9A40}" type="parTrans" cxnId="{D338E414-6A3E-3B4E-930E-87059433E487}">
      <dgm:prSet/>
      <dgm:spPr/>
      <dgm:t>
        <a:bodyPr/>
        <a:lstStyle/>
        <a:p>
          <a:endParaRPr lang="en-US"/>
        </a:p>
      </dgm:t>
    </dgm:pt>
    <dgm:pt modelId="{B2409C02-5E6B-6548-BA7F-261950446562}" type="sibTrans" cxnId="{D338E414-6A3E-3B4E-930E-87059433E487}">
      <dgm:prSet/>
      <dgm:spPr/>
      <dgm:t>
        <a:bodyPr/>
        <a:lstStyle/>
        <a:p>
          <a:endParaRPr lang="en-US"/>
        </a:p>
      </dgm:t>
    </dgm:pt>
    <dgm:pt modelId="{157518DD-2AE5-9241-A81B-9BACB3494A71}" type="pres">
      <dgm:prSet presAssocID="{19AFDCC0-669F-FE4B-AADD-1140D0B26BED}" presName="linearFlow" presStyleCnt="0">
        <dgm:presLayoutVars>
          <dgm:resizeHandles val="exact"/>
        </dgm:presLayoutVars>
      </dgm:prSet>
      <dgm:spPr/>
    </dgm:pt>
    <dgm:pt modelId="{CDE5AD4A-91CD-6145-B68E-A8BD08128822}" type="pres">
      <dgm:prSet presAssocID="{68B3F696-F6EA-0844-91DC-2DFA2DC2ACCD}" presName="node" presStyleLbl="node1" presStyleIdx="0" presStyleCnt="4">
        <dgm:presLayoutVars>
          <dgm:bulletEnabled val="1"/>
        </dgm:presLayoutVars>
      </dgm:prSet>
      <dgm:spPr/>
    </dgm:pt>
    <dgm:pt modelId="{C4FD19D1-3F9D-F944-8647-186163B3FB0B}" type="pres">
      <dgm:prSet presAssocID="{DA52BBF1-01BE-3447-B9B9-5914B7999C9D}" presName="sibTrans" presStyleLbl="sibTrans2D1" presStyleIdx="0" presStyleCnt="3"/>
      <dgm:spPr/>
    </dgm:pt>
    <dgm:pt modelId="{E49F2BD1-137A-B44C-85A0-A89B1A1C05D4}" type="pres">
      <dgm:prSet presAssocID="{DA52BBF1-01BE-3447-B9B9-5914B7999C9D}" presName="connectorText" presStyleLbl="sibTrans2D1" presStyleIdx="0" presStyleCnt="3"/>
      <dgm:spPr/>
    </dgm:pt>
    <dgm:pt modelId="{86A87BA8-3D87-744C-8643-95353016468D}" type="pres">
      <dgm:prSet presAssocID="{B2F0E08A-F997-5445-8F8D-FC8D42761AE9}" presName="node" presStyleLbl="node1" presStyleIdx="1" presStyleCnt="4" custScaleX="143316">
        <dgm:presLayoutVars>
          <dgm:bulletEnabled val="1"/>
        </dgm:presLayoutVars>
      </dgm:prSet>
      <dgm:spPr/>
    </dgm:pt>
    <dgm:pt modelId="{904B50AF-3C5C-3047-A019-1176F899FDBF}" type="pres">
      <dgm:prSet presAssocID="{89EA8B81-5940-6A4E-9CB7-D241290A027A}" presName="sibTrans" presStyleLbl="sibTrans2D1" presStyleIdx="1" presStyleCnt="3"/>
      <dgm:spPr/>
    </dgm:pt>
    <dgm:pt modelId="{C623199E-3014-0549-BB7B-8F3B65B43B65}" type="pres">
      <dgm:prSet presAssocID="{89EA8B81-5940-6A4E-9CB7-D241290A027A}" presName="connectorText" presStyleLbl="sibTrans2D1" presStyleIdx="1" presStyleCnt="3"/>
      <dgm:spPr/>
    </dgm:pt>
    <dgm:pt modelId="{5C59F3DF-57FB-AB41-A26C-EE6339063C09}" type="pres">
      <dgm:prSet presAssocID="{6250B17C-0C3D-2B42-8BED-6AAFE4BAFFA6}" presName="node" presStyleLbl="node1" presStyleIdx="2" presStyleCnt="4" custScaleX="176643">
        <dgm:presLayoutVars>
          <dgm:bulletEnabled val="1"/>
        </dgm:presLayoutVars>
      </dgm:prSet>
      <dgm:spPr/>
    </dgm:pt>
    <dgm:pt modelId="{8FE1D930-3EC0-AD41-9850-9414B7DC8413}" type="pres">
      <dgm:prSet presAssocID="{A7677365-217A-3B4D-B937-93C89862B2FD}" presName="sibTrans" presStyleLbl="sibTrans2D1" presStyleIdx="2" presStyleCnt="3"/>
      <dgm:spPr/>
    </dgm:pt>
    <dgm:pt modelId="{7CA63D5D-E48F-424B-8A82-4B3A07200329}" type="pres">
      <dgm:prSet presAssocID="{A7677365-217A-3B4D-B937-93C89862B2FD}" presName="connectorText" presStyleLbl="sibTrans2D1" presStyleIdx="2" presStyleCnt="3"/>
      <dgm:spPr/>
    </dgm:pt>
    <dgm:pt modelId="{73418F4B-F32B-3046-9027-770EF13BFBA5}" type="pres">
      <dgm:prSet presAssocID="{FD616149-5DB7-9A47-B7DB-0C9C37429F36}" presName="node" presStyleLbl="node1" presStyleIdx="3" presStyleCnt="4">
        <dgm:presLayoutVars>
          <dgm:bulletEnabled val="1"/>
        </dgm:presLayoutVars>
      </dgm:prSet>
      <dgm:spPr/>
    </dgm:pt>
  </dgm:ptLst>
  <dgm:cxnLst>
    <dgm:cxn modelId="{D338E414-6A3E-3B4E-930E-87059433E487}" srcId="{19AFDCC0-669F-FE4B-AADD-1140D0B26BED}" destId="{FD616149-5DB7-9A47-B7DB-0C9C37429F36}" srcOrd="3" destOrd="0" parTransId="{33905EF5-DB55-1141-B2C8-48890CEC9A40}" sibTransId="{B2409C02-5E6B-6548-BA7F-261950446562}"/>
    <dgm:cxn modelId="{63903519-81B5-5F41-8CAC-D4C5CC379C4F}" type="presOf" srcId="{DA52BBF1-01BE-3447-B9B9-5914B7999C9D}" destId="{E49F2BD1-137A-B44C-85A0-A89B1A1C05D4}" srcOrd="1" destOrd="0" presId="urn:microsoft.com/office/officeart/2005/8/layout/process2"/>
    <dgm:cxn modelId="{E42FAB21-CE9E-EF4E-9EAB-37F4AE2CD6A2}" type="presOf" srcId="{DA52BBF1-01BE-3447-B9B9-5914B7999C9D}" destId="{C4FD19D1-3F9D-F944-8647-186163B3FB0B}" srcOrd="0" destOrd="0" presId="urn:microsoft.com/office/officeart/2005/8/layout/process2"/>
    <dgm:cxn modelId="{ED6E4A22-A484-5042-A6AD-8A101C543BCD}" type="presOf" srcId="{A7677365-217A-3B4D-B937-93C89862B2FD}" destId="{7CA63D5D-E48F-424B-8A82-4B3A07200329}" srcOrd="1" destOrd="0" presId="urn:microsoft.com/office/officeart/2005/8/layout/process2"/>
    <dgm:cxn modelId="{22C52441-52A9-0744-834B-F091D97C2744}" type="presOf" srcId="{89EA8B81-5940-6A4E-9CB7-D241290A027A}" destId="{904B50AF-3C5C-3047-A019-1176F899FDBF}" srcOrd="0" destOrd="0" presId="urn:microsoft.com/office/officeart/2005/8/layout/process2"/>
    <dgm:cxn modelId="{DB739841-6393-614C-B048-B7C467CF4BB7}" type="presOf" srcId="{19AFDCC0-669F-FE4B-AADD-1140D0B26BED}" destId="{157518DD-2AE5-9241-A81B-9BACB3494A71}" srcOrd="0" destOrd="0" presId="urn:microsoft.com/office/officeart/2005/8/layout/process2"/>
    <dgm:cxn modelId="{18F1946A-F502-8246-81F2-B5256A6A6F75}" type="presOf" srcId="{68B3F696-F6EA-0844-91DC-2DFA2DC2ACCD}" destId="{CDE5AD4A-91CD-6145-B68E-A8BD08128822}" srcOrd="0" destOrd="0" presId="urn:microsoft.com/office/officeart/2005/8/layout/process2"/>
    <dgm:cxn modelId="{374BA785-A8C0-A64F-9C7E-EB65276F03E6}" type="presOf" srcId="{FD616149-5DB7-9A47-B7DB-0C9C37429F36}" destId="{73418F4B-F32B-3046-9027-770EF13BFBA5}" srcOrd="0" destOrd="0" presId="urn:microsoft.com/office/officeart/2005/8/layout/process2"/>
    <dgm:cxn modelId="{ED408BA2-E15E-F747-ADBE-B57DA158BFA4}" type="presOf" srcId="{89EA8B81-5940-6A4E-9CB7-D241290A027A}" destId="{C623199E-3014-0549-BB7B-8F3B65B43B65}" srcOrd="1" destOrd="0" presId="urn:microsoft.com/office/officeart/2005/8/layout/process2"/>
    <dgm:cxn modelId="{FF88B8BD-8651-134A-A19F-D7143D04DE33}" srcId="{19AFDCC0-669F-FE4B-AADD-1140D0B26BED}" destId="{68B3F696-F6EA-0844-91DC-2DFA2DC2ACCD}" srcOrd="0" destOrd="0" parTransId="{00BF89B4-85C6-3E4A-ACDE-BCFC6DECA479}" sibTransId="{DA52BBF1-01BE-3447-B9B9-5914B7999C9D}"/>
    <dgm:cxn modelId="{81A244C4-AF5F-8A4B-B6BC-9EE67E4AE2CF}" srcId="{19AFDCC0-669F-FE4B-AADD-1140D0B26BED}" destId="{6250B17C-0C3D-2B42-8BED-6AAFE4BAFFA6}" srcOrd="2" destOrd="0" parTransId="{140EEE01-82EF-9C42-9359-B96911BFEAE5}" sibTransId="{A7677365-217A-3B4D-B937-93C89862B2FD}"/>
    <dgm:cxn modelId="{8376C2C5-82E2-1A49-893E-004F3E62DC3D}" type="presOf" srcId="{6250B17C-0C3D-2B42-8BED-6AAFE4BAFFA6}" destId="{5C59F3DF-57FB-AB41-A26C-EE6339063C09}" srcOrd="0" destOrd="0" presId="urn:microsoft.com/office/officeart/2005/8/layout/process2"/>
    <dgm:cxn modelId="{2FA0A1D1-FAD2-A141-8817-BC839C87A3A9}" type="presOf" srcId="{A7677365-217A-3B4D-B937-93C89862B2FD}" destId="{8FE1D930-3EC0-AD41-9850-9414B7DC8413}" srcOrd="0" destOrd="0" presId="urn:microsoft.com/office/officeart/2005/8/layout/process2"/>
    <dgm:cxn modelId="{80FD85E7-C5D4-794A-ABAB-A566F29AD9A1}" type="presOf" srcId="{B2F0E08A-F997-5445-8F8D-FC8D42761AE9}" destId="{86A87BA8-3D87-744C-8643-95353016468D}" srcOrd="0" destOrd="0" presId="urn:microsoft.com/office/officeart/2005/8/layout/process2"/>
    <dgm:cxn modelId="{3D4F52E8-3026-5A40-A0DD-27A15BDF1D75}" srcId="{19AFDCC0-669F-FE4B-AADD-1140D0B26BED}" destId="{B2F0E08A-F997-5445-8F8D-FC8D42761AE9}" srcOrd="1" destOrd="0" parTransId="{0E88F2E1-0468-6E44-AFE7-8B2790668F28}" sibTransId="{89EA8B81-5940-6A4E-9CB7-D241290A027A}"/>
    <dgm:cxn modelId="{22C7DC72-A214-6A48-8D14-D4D28B11C067}" type="presParOf" srcId="{157518DD-2AE5-9241-A81B-9BACB3494A71}" destId="{CDE5AD4A-91CD-6145-B68E-A8BD08128822}" srcOrd="0" destOrd="0" presId="urn:microsoft.com/office/officeart/2005/8/layout/process2"/>
    <dgm:cxn modelId="{6997A76C-76BB-DD45-B8AF-5204F0E073E9}" type="presParOf" srcId="{157518DD-2AE5-9241-A81B-9BACB3494A71}" destId="{C4FD19D1-3F9D-F944-8647-186163B3FB0B}" srcOrd="1" destOrd="0" presId="urn:microsoft.com/office/officeart/2005/8/layout/process2"/>
    <dgm:cxn modelId="{B72E7C49-8CD5-5645-BB9B-C8B5EC45A6DF}" type="presParOf" srcId="{C4FD19D1-3F9D-F944-8647-186163B3FB0B}" destId="{E49F2BD1-137A-B44C-85A0-A89B1A1C05D4}" srcOrd="0" destOrd="0" presId="urn:microsoft.com/office/officeart/2005/8/layout/process2"/>
    <dgm:cxn modelId="{6A1A4C66-6BD8-2A42-B38F-3D8D0A61B318}" type="presParOf" srcId="{157518DD-2AE5-9241-A81B-9BACB3494A71}" destId="{86A87BA8-3D87-744C-8643-95353016468D}" srcOrd="2" destOrd="0" presId="urn:microsoft.com/office/officeart/2005/8/layout/process2"/>
    <dgm:cxn modelId="{11D17920-03B3-5645-9E57-A00991355682}" type="presParOf" srcId="{157518DD-2AE5-9241-A81B-9BACB3494A71}" destId="{904B50AF-3C5C-3047-A019-1176F899FDBF}" srcOrd="3" destOrd="0" presId="urn:microsoft.com/office/officeart/2005/8/layout/process2"/>
    <dgm:cxn modelId="{C6F4114E-479F-4749-B87E-D2DC477B880C}" type="presParOf" srcId="{904B50AF-3C5C-3047-A019-1176F899FDBF}" destId="{C623199E-3014-0549-BB7B-8F3B65B43B65}" srcOrd="0" destOrd="0" presId="urn:microsoft.com/office/officeart/2005/8/layout/process2"/>
    <dgm:cxn modelId="{EBA47593-9D20-D143-A1E1-FFB62FD1AC56}" type="presParOf" srcId="{157518DD-2AE5-9241-A81B-9BACB3494A71}" destId="{5C59F3DF-57FB-AB41-A26C-EE6339063C09}" srcOrd="4" destOrd="0" presId="urn:microsoft.com/office/officeart/2005/8/layout/process2"/>
    <dgm:cxn modelId="{B75FAEC8-778B-B640-8456-F604D6DCBBFB}" type="presParOf" srcId="{157518DD-2AE5-9241-A81B-9BACB3494A71}" destId="{8FE1D930-3EC0-AD41-9850-9414B7DC8413}" srcOrd="5" destOrd="0" presId="urn:microsoft.com/office/officeart/2005/8/layout/process2"/>
    <dgm:cxn modelId="{06107992-6AB7-8C47-8ECE-7B470506E6AB}" type="presParOf" srcId="{8FE1D930-3EC0-AD41-9850-9414B7DC8413}" destId="{7CA63D5D-E48F-424B-8A82-4B3A07200329}" srcOrd="0" destOrd="0" presId="urn:microsoft.com/office/officeart/2005/8/layout/process2"/>
    <dgm:cxn modelId="{F47179A5-26EA-814E-917A-9A7DAF8C94DE}" type="presParOf" srcId="{157518DD-2AE5-9241-A81B-9BACB3494A71}" destId="{73418F4B-F32B-3046-9027-770EF13BFBA5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5AD4A-91CD-6145-B68E-A8BD08128822}">
      <dsp:nvSpPr>
        <dsp:cNvPr id="0" name=""/>
        <dsp:cNvSpPr/>
      </dsp:nvSpPr>
      <dsp:spPr>
        <a:xfrm>
          <a:off x="2622545" y="2645"/>
          <a:ext cx="3678292" cy="9842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Build a surrogate model using the available data</a:t>
          </a:r>
        </a:p>
      </dsp:txBody>
      <dsp:txXfrm>
        <a:off x="2651373" y="31473"/>
        <a:ext cx="3620636" cy="926594"/>
      </dsp:txXfrm>
    </dsp:sp>
    <dsp:sp modelId="{C4FD19D1-3F9D-F944-8647-186163B3FB0B}">
      <dsp:nvSpPr>
        <dsp:cNvPr id="0" name=""/>
        <dsp:cNvSpPr/>
      </dsp:nvSpPr>
      <dsp:spPr>
        <a:xfrm rot="5400000">
          <a:off x="4277144" y="1011502"/>
          <a:ext cx="369093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n>
              <a:solidFill>
                <a:sysClr val="windowText" lastClr="000000"/>
              </a:solidFill>
            </a:ln>
          </a:endParaRPr>
        </a:p>
      </dsp:txBody>
      <dsp:txXfrm rot="-5400000">
        <a:off x="4328817" y="1048411"/>
        <a:ext cx="265748" cy="258365"/>
      </dsp:txXfrm>
    </dsp:sp>
    <dsp:sp modelId="{86A87BA8-3D87-744C-8643-95353016468D}">
      <dsp:nvSpPr>
        <dsp:cNvPr id="0" name=""/>
        <dsp:cNvSpPr/>
      </dsp:nvSpPr>
      <dsp:spPr>
        <a:xfrm>
          <a:off x="1825900" y="1479020"/>
          <a:ext cx="5271581" cy="9842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Design dozens of "sequence pair candidates" with Bayesian Optimization</a:t>
          </a:r>
        </a:p>
      </dsp:txBody>
      <dsp:txXfrm>
        <a:off x="1854728" y="1507848"/>
        <a:ext cx="5213925" cy="926594"/>
      </dsp:txXfrm>
    </dsp:sp>
    <dsp:sp modelId="{904B50AF-3C5C-3047-A019-1176F899FDBF}">
      <dsp:nvSpPr>
        <dsp:cNvPr id="0" name=""/>
        <dsp:cNvSpPr/>
      </dsp:nvSpPr>
      <dsp:spPr>
        <a:xfrm rot="5400000">
          <a:off x="4277144" y="2487877"/>
          <a:ext cx="369093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328817" y="2524786"/>
        <a:ext cx="265748" cy="258365"/>
      </dsp:txXfrm>
    </dsp:sp>
    <dsp:sp modelId="{5C59F3DF-57FB-AB41-A26C-EE6339063C09}">
      <dsp:nvSpPr>
        <dsp:cNvPr id="0" name=""/>
        <dsp:cNvSpPr/>
      </dsp:nvSpPr>
      <dsp:spPr>
        <a:xfrm>
          <a:off x="1212968" y="2955396"/>
          <a:ext cx="6497445" cy="9842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(Experiment) synthesize these candidates in wet-lab experiments and measure their actual activity</a:t>
          </a:r>
        </a:p>
      </dsp:txBody>
      <dsp:txXfrm>
        <a:off x="1241796" y="2984224"/>
        <a:ext cx="6439789" cy="926594"/>
      </dsp:txXfrm>
    </dsp:sp>
    <dsp:sp modelId="{8FE1D930-3EC0-AD41-9850-9414B7DC8413}">
      <dsp:nvSpPr>
        <dsp:cNvPr id="0" name=""/>
        <dsp:cNvSpPr/>
      </dsp:nvSpPr>
      <dsp:spPr>
        <a:xfrm rot="5400000">
          <a:off x="4277144" y="3964252"/>
          <a:ext cx="369093" cy="44291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328817" y="4001161"/>
        <a:ext cx="265748" cy="258365"/>
      </dsp:txXfrm>
    </dsp:sp>
    <dsp:sp modelId="{73418F4B-F32B-3046-9027-770EF13BFBA5}">
      <dsp:nvSpPr>
        <dsp:cNvPr id="0" name=""/>
        <dsp:cNvSpPr/>
      </dsp:nvSpPr>
      <dsp:spPr>
        <a:xfrm>
          <a:off x="2622545" y="4431771"/>
          <a:ext cx="3678292" cy="98425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Incorporate the results as new data and retrain the surrogate model to improve its accuracy</a:t>
          </a:r>
        </a:p>
      </dsp:txBody>
      <dsp:txXfrm>
        <a:off x="2651373" y="4460599"/>
        <a:ext cx="3620636" cy="9265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4114-4317-A0DE-F3DB-63EB5A9D4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4C8B3-41AA-8D8B-5F4A-4828BC518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597E5-81CF-C9A9-5C6C-94F734A8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1AF59-0A26-D36D-5523-739F0B04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CD4A9-941E-2196-ABF6-E2231303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FAC4-DBAF-A7EE-2CF6-C4BAB3D1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21172-526E-BBA2-045E-0140494F2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760B9-0BD0-F801-82D1-8B807B70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8032D-ACEE-AE84-BFB0-C14C13926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A3CFB-969F-5173-44E4-E5A6BF7C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4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FE20-5250-373E-0BE3-DCA7F1FE8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A0AE3-8763-69C7-D83E-5D63E710A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AACE0-05F8-D8A9-9343-4EFC4EE7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3E10-C909-2BFA-0388-749B73E0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A637-9F84-D47D-5763-895B140D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2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8A33B-7F45-B712-35E7-D54CD425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5A403-E418-F522-F87E-36DF1F67E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D86A8-556B-AF57-C580-2F5A36D54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22658-3560-2FC2-B104-DE0BE3CC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2C17E-3C27-6ECA-F97B-C95B9B3B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FAACA-3AC3-F7DB-4C96-DCAC79DF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6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A7CE-EAF1-8D03-E1AE-DE79276F2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5C188-5151-578D-0F66-440818DCD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5BCE8-0BED-81B1-590D-748F379DE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70F0E-8303-BEDE-1B33-D56773D07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CF76F6-EF13-2611-15B0-B4FB57D90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EA580-EFAB-A8BC-28B2-6374D0C8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5F42C-F6D1-5553-CB90-627E8033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22813-5E9F-FB4E-177E-9C7041D7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0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EE20-CF88-DD77-F19B-A14438CF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02BC1-710F-7BF8-27A8-992A6DE4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EDE38-9305-4AAB-EFB1-F43D3F4A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176D8-5D4F-C177-2651-631FF9BE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9B8068-13F6-F180-FAA0-A5F7AF03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B2093-C552-5E99-44DA-8B9FD5EB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6354D-2A5C-7E56-8971-D9DEC9A1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9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9721-001D-EE4F-FEEC-8A882E93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7718-A894-96D2-7013-B7AA60789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9D4AB-D147-29FB-68FF-C7894F17C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651D1-12CB-71D3-F2A2-E546E183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565C4-9C04-B878-4DD0-13D33E19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BF3FE-C159-2C30-04D9-9D80E6B4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1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8F82-73F8-C8E7-2467-E08FC81E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E6F7E-4979-B8F2-EDFE-C751BB8A3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CAF66-96A3-D72C-6FEF-9D9664D10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0667F-7632-0361-F08D-5F9432AF9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AD9E6-A26D-C837-2208-1EAA19B2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58996-C4FB-ECE8-FECC-211E3F05F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5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1571-471E-9352-A0BD-D1C64930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9D46C-3678-553F-F1DF-D934F9C63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8EC72-6279-E2BC-6714-596D2914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F6387-35DC-E8D3-8947-35753452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3C45D-4B7E-7753-DAE2-7918FA6E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5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DFFB0-D038-8066-4353-6B7BA073C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2C702-1884-C512-66C2-0DA2790F7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D36A-09AF-8F44-4D7E-5438803F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DD3DB-CD3E-3D67-350B-F9DDC0DB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C316-B6FB-6171-083F-550C2E38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3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EA100-06ED-54C3-3928-C10E4FDDF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1A1C3-942F-261D-0550-08B45C957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56EDF-2B1E-DF55-AE4E-17E5C57EF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39CC-3AD4-834B-8EA5-8EBF3654AFB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B3290-9214-38B9-E80D-C03AABE07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957D7-2E91-61A2-2FB1-DC8F66965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3AA00-203B-CE43-A2F3-6A4ACBC8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9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6433-F937-D384-96CB-95759AC4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87" y="2341563"/>
            <a:ext cx="11592910" cy="2387600"/>
          </a:xfrm>
        </p:spPr>
        <p:txBody>
          <a:bodyPr>
            <a:no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Optimization-Based Primer Design for Recombinase Polymerase Amplification (RPA) Assays Targeting Tuberculosis Detection</a:t>
            </a:r>
          </a:p>
        </p:txBody>
      </p:sp>
    </p:spTree>
    <p:extLst>
      <p:ext uri="{BB962C8B-B14F-4D97-AF65-F5344CB8AC3E}">
        <p14:creationId xmlns:p14="http://schemas.microsoft.com/office/powerpoint/2010/main" val="189010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C030-168A-98EA-7A98-3FE68538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C531-20B7-A1B8-D5FE-6BBE3F78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an RPA assay depends heavily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primer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 sequences must be converted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One-hot Encoding, K-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Encoding, DNABERT) before they can be analyzed by machine learning models.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the prediction of primer performance, reducing reliance on trial-and-error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87348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E0F2-A71B-922B-4AEE-091C1CA3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5076D-70F2-BA9F-5298-A9FD6005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DDD9-A1B6-AA75-7AD9-D3ED2C444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highly efficient RPA primers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multi-parameter optimization 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primer design methods rely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rules and exhaustive screening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time-consuming and computationally expensive.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Wet-lab validation of every primer candidate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costly and labor-intensive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284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A5D5-16A5-B070-372F-312218918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4047-C7B6-EB5C-6C2B-62815C0A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42481-21AA-D01E-B944-58B75E7C9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Develop a </a:t>
            </a:r>
            <a:r>
              <a:rPr lang="en-US" b="1" dirty="0">
                <a:latin typeface="+mj-lt"/>
              </a:rPr>
              <a:t>machine learning-based surrogate model</a:t>
            </a:r>
            <a:r>
              <a:rPr lang="en-US" dirty="0">
                <a:latin typeface="+mj-lt"/>
              </a:rPr>
              <a:t> (e.g., Gaussian Process Regression) to predict primer activity from encoded sequence data. </a:t>
            </a:r>
          </a:p>
          <a:p>
            <a:r>
              <a:rPr lang="en-US" dirty="0">
                <a:latin typeface="+mj-lt"/>
              </a:rPr>
              <a:t>Apply </a:t>
            </a:r>
            <a:r>
              <a:rPr lang="en-US" b="1" dirty="0">
                <a:latin typeface="+mj-lt"/>
              </a:rPr>
              <a:t>Bayesian Optimization</a:t>
            </a:r>
            <a:r>
              <a:rPr lang="en-US" dirty="0">
                <a:latin typeface="+mj-lt"/>
              </a:rPr>
              <a:t> to intelligently select primer candidates by balancing </a:t>
            </a:r>
            <a:r>
              <a:rPr lang="en-US" b="1" dirty="0">
                <a:latin typeface="+mj-lt"/>
              </a:rPr>
              <a:t>exploration</a:t>
            </a:r>
            <a:r>
              <a:rPr lang="en-US" dirty="0">
                <a:latin typeface="+mj-lt"/>
              </a:rPr>
              <a:t> and </a:t>
            </a:r>
            <a:r>
              <a:rPr lang="en-US" b="1" dirty="0">
                <a:latin typeface="+mj-lt"/>
              </a:rPr>
              <a:t>exploitation</a:t>
            </a:r>
            <a:r>
              <a:rPr lang="en-US" dirty="0">
                <a:latin typeface="+mj-lt"/>
              </a:rPr>
              <a:t> through an acquisition function. </a:t>
            </a:r>
          </a:p>
          <a:p>
            <a:r>
              <a:rPr lang="en-US" dirty="0">
                <a:latin typeface="+mj-lt"/>
              </a:rPr>
              <a:t>Incorporate </a:t>
            </a:r>
            <a:r>
              <a:rPr lang="en-US" b="1" dirty="0">
                <a:latin typeface="+mj-lt"/>
              </a:rPr>
              <a:t>Active Learning</a:t>
            </a:r>
            <a:r>
              <a:rPr lang="en-US" dirty="0">
                <a:latin typeface="+mj-lt"/>
              </a:rPr>
              <a:t> to iteratively retrain the model using experimental validation results. </a:t>
            </a:r>
          </a:p>
        </p:txBody>
      </p:sp>
    </p:spTree>
    <p:extLst>
      <p:ext uri="{BB962C8B-B14F-4D97-AF65-F5344CB8AC3E}">
        <p14:creationId xmlns:p14="http://schemas.microsoft.com/office/powerpoint/2010/main" val="251855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6B86-007A-7488-9DE9-38D48EF3E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9625-96FB-0853-FDC6-C2192EE5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8AF5-FF84-1A39-E634-5ADEF25C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: Encoding of primer pairs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nucleotide sequence strings into numerical vectors that machine learning algorithms can process: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One hot encoding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Language Model (DNABERT, RNA-FM)</a:t>
            </a:r>
          </a:p>
        </p:txBody>
      </p:sp>
    </p:spTree>
    <p:extLst>
      <p:ext uri="{BB962C8B-B14F-4D97-AF65-F5344CB8AC3E}">
        <p14:creationId xmlns:p14="http://schemas.microsoft.com/office/powerpoint/2010/main" val="356883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35B0-A555-DBA3-38AB-5E6A9312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24A4-760D-86AE-E584-9794D768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3BDB7-4B8E-A42B-2199-AC47D9B2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8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Surrogate Predictive Model (Regression Model)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machine learning-based surrogate model using the encoded numerical data and available activity data to predict the activity of unseen sequence pairs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Ridge Regression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Support Vector Regression (+ GA)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Gaussian Process Regression</a:t>
            </a:r>
          </a:p>
        </p:txBody>
      </p:sp>
    </p:spTree>
    <p:extLst>
      <p:ext uri="{BB962C8B-B14F-4D97-AF65-F5344CB8AC3E}">
        <p14:creationId xmlns:p14="http://schemas.microsoft.com/office/powerpoint/2010/main" val="155571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2CFE-BEE9-7EAA-CD87-8E3FAD41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439F0-543C-84DB-70E3-1B455FE8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7F815-202D-C201-7245-3B4C6982A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8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Bayesian Optimization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novel sequence pairs that maximize activity using a surrogate model.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Function (Surrogate model + Uncertainty)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selection balancing exploration (high uncertainty) and exploitation (high predicted activity)</a:t>
            </a:r>
          </a:p>
        </p:txBody>
      </p:sp>
    </p:spTree>
    <p:extLst>
      <p:ext uri="{BB962C8B-B14F-4D97-AF65-F5344CB8AC3E}">
        <p14:creationId xmlns:p14="http://schemas.microsoft.com/office/powerpoint/2010/main" val="387378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7C45-2D78-206E-DEF6-1F7D838E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9845-4B71-3130-E009-3521AD1C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39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DC7D6-20D0-9A48-B32F-E6F8B1D9A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5"/>
            <a:ext cx="10515600" cy="522264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Active Learning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C71940-E1C5-38DA-71A8-D81CE5279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905488"/>
              </p:ext>
            </p:extLst>
          </p:nvPr>
        </p:nvGraphicFramePr>
        <p:xfrm>
          <a:off x="3355701" y="1079863"/>
          <a:ext cx="892338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ight Arrow 15">
            <a:extLst>
              <a:ext uri="{FF2B5EF4-FFF2-40B4-BE49-F238E27FC236}">
                <a16:creationId xmlns:a16="http://schemas.microsoft.com/office/drawing/2014/main" id="{E01C2DCB-9C67-671F-4B6D-C5153FA6D09F}"/>
              </a:ext>
            </a:extLst>
          </p:cNvPr>
          <p:cNvSpPr/>
          <p:nvPr/>
        </p:nvSpPr>
        <p:spPr>
          <a:xfrm>
            <a:off x="2508069" y="2917371"/>
            <a:ext cx="2603862" cy="148046"/>
          </a:xfrm>
          <a:prstGeom prst="rightArrow">
            <a:avLst/>
          </a:prstGeom>
          <a:ln w="2222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BB60E6-9A5C-E97C-6FB7-FAB2AC7FC1B8}"/>
              </a:ext>
            </a:extLst>
          </p:cNvPr>
          <p:cNvCxnSpPr>
            <a:stCxn id="16" idx="1"/>
          </p:cNvCxnSpPr>
          <p:nvPr/>
        </p:nvCxnSpPr>
        <p:spPr>
          <a:xfrm>
            <a:off x="2508068" y="2991393"/>
            <a:ext cx="0" cy="3096000"/>
          </a:xfrm>
          <a:prstGeom prst="line">
            <a:avLst/>
          </a:prstGeom>
          <a:ln w="730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AC195F-9DAF-B214-0414-AC580B2A9898}"/>
              </a:ext>
            </a:extLst>
          </p:cNvPr>
          <p:cNvCxnSpPr/>
          <p:nvPr/>
        </p:nvCxnSpPr>
        <p:spPr>
          <a:xfrm>
            <a:off x="2508069" y="6096000"/>
            <a:ext cx="3335382" cy="0"/>
          </a:xfrm>
          <a:prstGeom prst="line">
            <a:avLst/>
          </a:prstGeom>
          <a:ln w="889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99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4B7E-6862-3941-5B64-64E1E659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25B4-4815-8ED3-F915-4C8E2CCF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D9EDE-C148-99E2-E23A-DB1060BB3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985"/>
            <a:ext cx="10515600" cy="4351338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26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369</Words>
  <Application>Microsoft Macintosh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Bayesian Optimization-Based Primer Design for Recombinase Polymerase Amplification (RPA) Assays Targeting Tuberculosis Detection</vt:lpstr>
      <vt:lpstr>BACKGROUND</vt:lpstr>
      <vt:lpstr>PROBLEM STATEMENT</vt:lpstr>
      <vt:lpstr>SOLUTION STATEMENT</vt:lpstr>
      <vt:lpstr>METHODOLOGY</vt:lpstr>
      <vt:lpstr>METHODOLOGY</vt:lpstr>
      <vt:lpstr>METHODOLOGY</vt:lpstr>
      <vt:lpstr>METHODOLOGY</vt:lpstr>
      <vt:lpstr>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Singh</dc:creator>
  <cp:lastModifiedBy>Uday Singh</cp:lastModifiedBy>
  <cp:revision>2</cp:revision>
  <dcterms:created xsi:type="dcterms:W3CDTF">2026-06-29T08:13:54Z</dcterms:created>
  <dcterms:modified xsi:type="dcterms:W3CDTF">2026-06-29T17:35:22Z</dcterms:modified>
</cp:coreProperties>
</file>